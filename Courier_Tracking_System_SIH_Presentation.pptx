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3716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258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 &amp; SUPPLY CHAIN INNOVATION • FULL-STACK WEB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Courier &amp; Parcel Delivery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System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end-to-end transparent parcel lifecycle tracking platform with role-based orchestration, dynamic zone-based fee estimation, and tamper-proof audit trails.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206240"/>
            <a:ext cx="10698480" cy="164592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43891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ARTIFACTS &amp; TECH STACK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47091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Production URL: https://courier-tracking-system-eta.vercel.app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GitHub Repository: https://github.com/rahimuddin140/courier-tracking-system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Stack: Node.js • Express.js • EJS (SSR) • MongoDB Atlas • Bootstrap 5 • Vercel Serverless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BACKGROUND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Statement: Challenges in Courier &amp; Parcel Delivery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74980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inefficiencies identified in current middle-mile and last-mile parcel logistics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5257800" cy="2057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25880"/>
            <a:ext cx="137160" cy="2057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5544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Lack of Transparent Real-Time Tracking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01168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systems provide opaque, infrequent updates. Customers and senders lack granular visibility into exact transition stages and timestamps.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1325880"/>
            <a:ext cx="5257800" cy="2057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325880"/>
            <a:ext cx="137160" cy="2057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5544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 Unbalanced Agent Workload Allocation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201168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 hubs often suffer from manual dispatch bottlenecks. Dispatchers lack real-time visibility into field agent capacities and zone coverage.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611880"/>
            <a:ext cx="5257800" cy="2057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611880"/>
            <a:ext cx="137160" cy="20574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38404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💵  Opaque &amp; Inconsistent Delivery Pricing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429768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fees are rarely calculated with transparent rules. Absence of real-time destination pincode zone pricing leads to billing ambiguities.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3611880"/>
            <a:ext cx="5257800" cy="2057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3611880"/>
            <a:ext cx="137160" cy="20574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38404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📜  Absence of Immutable Audit Logs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2240" y="429768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Disputed package states (e.g. premature mark as Delivered or unexplained Failed deliveries) cannot be verified without timestamped state logs.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APPROACH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Solution: Comprehensive Logistics Management Platform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74980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centralized, role-based web architecture connecting Customers, Agents, and Administrators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342900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645920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DBEAF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66420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" y="205740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Ecosystem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2606040"/>
            <a:ext cx="28803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Dedicated portals for Customer, Delivery Agent, and Admin</a:t>
            </a:r>
            <a:endParaRPr lang="en-US" sz="11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Enforced role-based access control (RBAC) via middleware</a:t>
            </a:r>
            <a:endParaRPr lang="en-US" sz="11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Admin fleet management &amp; intelligent zone assignment</a:t>
            </a:r>
            <a:endParaRPr lang="en-US" sz="11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Customer self-service parcel booking &amp; cancellation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61688" y="1371600"/>
            <a:ext cx="342900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36008" y="1645920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DBEAFE"/>
          </a:solidFill>
          <a:ln/>
        </p:spPr>
      </p:sp>
      <p:sp>
        <p:nvSpPr>
          <p:cNvPr id="13" name="Text 11"/>
          <p:cNvSpPr/>
          <p:nvPr/>
        </p:nvSpPr>
        <p:spPr>
          <a:xfrm>
            <a:off x="4636008" y="166420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36008" y="205740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State Machine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36008" y="2606040"/>
            <a:ext cx="28803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Strict lifecycle flow: Booked → Picked Up → In Transit → Out for Delivery → Delivered</a:t>
            </a:r>
            <a:endParaRPr lang="en-US" sz="11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Prevention of skipped steps or unauthorized rollbacks</a:t>
            </a:r>
            <a:endParaRPr lang="en-US" sz="11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Immutable status history log tracking user ID &amp; timestamp</a:t>
            </a:r>
            <a:endParaRPr lang="en-US" sz="11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Public tracking portal accessible via unique PKG Tracking ID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91856" y="1371600"/>
            <a:ext cx="342900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6176" y="1645920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DBEAFE"/>
          </a:solidFill>
          <a:ln/>
        </p:spPr>
      </p:sp>
      <p:sp>
        <p:nvSpPr>
          <p:cNvPr id="18" name="Text 16"/>
          <p:cNvSpPr/>
          <p:nvPr/>
        </p:nvSpPr>
        <p:spPr>
          <a:xfrm>
            <a:off x="8266176" y="166420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66176" y="205740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Rate Engine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66176" y="2606040"/>
            <a:ext cx="28803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Automated formula: Base Fee + (Weight × Rate per kg)</a:t>
            </a:r>
            <a:endParaRPr lang="en-US" sz="11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Instant pincode-to-zone geographical mapping</a:t>
            </a:r>
            <a:endParaRPr lang="en-US" sz="11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Live interactive price estimation on the booking screen</a:t>
            </a:r>
            <a:endParaRPr lang="en-US" sz="11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Customizable zone parameters configurable by administrators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DESIGN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&amp; Multi-Tier Data Flow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74980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Cloud-native serverless architecture designed for high availability and sub-second response times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3429000" cy="438912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7373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/ Presentation Tier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210312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&amp; Mobile Web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60120" y="2468880"/>
            <a:ext cx="2971800" cy="0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651760"/>
            <a:ext cx="2971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EJS Templates (Server-Side Rendering)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5.3 Responsive Grid &amp; Custom CSS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DOM Rate Calculator &amp; Stepper UI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Tracking Portal (No Login Required)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61688" y="1463040"/>
            <a:ext cx="3429000" cy="438912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17373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&amp; Routing Tier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90288" y="210312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&amp; Express.js Engine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90288" y="2468880"/>
            <a:ext cx="2971800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0288" y="2651760"/>
            <a:ext cx="2971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Routers (Auth, Track, Customer, Agent, Admin)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Authentication (express-session + bcrypt)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Authorization Middlewares (RBAC)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Lambda Wrapper for Vercel Edge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91856" y="1463040"/>
            <a:ext cx="3429000" cy="4389120"/>
          </a:xfrm>
          <a:prstGeom prst="roundRect">
            <a:avLst>
              <a:gd name="adj" fmla="val 4000"/>
            </a:avLst>
          </a:prstGeom>
          <a:solidFill>
            <a:srgbClr val="FAF5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0456" y="17373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Persistence Tier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0456" y="210312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Database &amp; Cache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220456" y="2468880"/>
            <a:ext cx="2971800" cy="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0456" y="2651760"/>
            <a:ext cx="2971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Atlas Cloud Cluster (M0 / Replica Set)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Mongoose ODM with Schema Validation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connect-mongo Persistent Session Storage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Cached Connection Pooling for Serverless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MATRIX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Feature Matrix: Customer, Agent, Admin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74980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segregation of duties ensuring security, operational clarity, and accountability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25880"/>
          <a:ext cx="10725912" cy="4572000"/>
        </p:xfrm>
        <a:graphic>
          <a:graphicData uri="http://schemas.openxmlformats.org/drawingml/2006/table">
            <a:tbl>
              <a:tblPr/>
              <a:tblGrid>
                <a:gridCol w="3867912"/>
                <a:gridCol w="2286000"/>
                <a:gridCol w="2286000"/>
                <a:gridCol w="2286000"/>
              </a:tblGrid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Functional Capability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Customer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Delivery Agent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Logistics Admin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Account Self-Registration &amp; Login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✅ Yes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❌ (Admin Created)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❌ (Pre-Seeded)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Book Parcel with Address &amp; Weight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✅ Yes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❌ No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✅ Yes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Dynamic Delivery Charge Estimation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✅ Yes (Live Preview)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❌ No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✅ Yes (Configure Rates)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Unique Tracking ID Generation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✅ Yes (PKG-...)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❌ No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✅ Yes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Cancel Parcel (If Booked status)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✅ Yes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❌ No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✅ Yes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View Assigned Deliveries Queue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❌ No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✅ Yes (Filtered)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✅ Yes (All Agents)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Advance Lifecycle Status &amp; Add Remarks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❌ No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✅ Yes (State Guarded)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✅ Yes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Fleet Workload Load-Balancing Table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❌ No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❌ No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✅ Yes (Real-Time)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Assign / Reassign Agent to Parcel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❌ No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❌ No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✅ Yes (Any Parcel)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Delivery Zone &amp; Pincode CRUD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❌ No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❌ No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✅ Yes (Base Fee + Rate)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INTEGRITY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Lifecycle State Machine &amp; Audit Trail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74980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state validation prevents unauthorized jumps and guarantees tamper-proof logs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1965960" cy="20116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35608" y="1783080"/>
            <a:ext cx="548640" cy="54864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1435608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4231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74320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books online; tracking ID issued; assigned to queue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697480" y="233172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926080" y="1554480"/>
            <a:ext cx="1965960" cy="20116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25400">
            <a:solidFill>
              <a:srgbClr val="0284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30168" y="1783080"/>
            <a:ext cx="548640" cy="54864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4" name="Text 12"/>
          <p:cNvSpPr/>
          <p:nvPr/>
        </p:nvSpPr>
        <p:spPr>
          <a:xfrm>
            <a:off x="3630168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17520" y="24231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Picked Up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63240" y="274320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collects shipment from sender premises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92040" y="233172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120640" y="1554480"/>
            <a:ext cx="1965960" cy="20116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24728" y="178308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5824728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12080" y="24231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Transit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57800" y="274320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Dispatched to regional sorting and logistics hub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086600" y="233172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315200" y="1554480"/>
            <a:ext cx="1965960" cy="20116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19288" y="1783080"/>
            <a:ext cx="548640" cy="5486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8019288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06640" y="24231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for Delivery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52360" y="274320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agent on route to recipient address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281160" y="233172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509760" y="1554480"/>
            <a:ext cx="1965960" cy="20116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213848" y="1783080"/>
            <a:ext cx="548640" cy="5486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2" name="Text 30"/>
          <p:cNvSpPr/>
          <p:nvPr/>
        </p:nvSpPr>
        <p:spPr>
          <a:xfrm>
            <a:off x="10213848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601200" y="24231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/ Failed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646920" y="274320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Successful drop with signature OR logged failure with reason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31520" y="3886200"/>
            <a:ext cx="10725912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5840" y="4069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Auditability Guarantee: The Immutable Status History Schema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05840" y="4434840"/>
            <a:ext cx="10149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state modification automatically appends a non-deletable document into the statusHistory array: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Exact Timestamp: Precise Date.now() recorded on the cloud server.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Actor Identity: Direct Mongoose ObjectId reference to the User/Agent who performed the update.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Detailed Remarks: Optional or mandatory delivery context (e.g. "Delivered to reception", "Customer phone unreachable").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FEATURE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Delivery Charge &amp; Regional Zone Engine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74980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pricing calculation matching parcel weight with regional geographical pincodes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10725912" cy="1280160"/>
          </a:xfrm>
          <a:prstGeom prst="roundRect">
            <a:avLst>
              <a:gd name="adj" fmla="val 10714"/>
            </a:avLst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5087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RATE FORMULA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1783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Charge = Zone.baseFee + ( Parcel.weight × Zone.perKgRate 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22402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Pincode matched dynamically via database index. If destination is unassigned, fallback to national baseline: ₹100 Base + ₹30/kg.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834640"/>
          <a:ext cx="10725912" cy="3017520"/>
        </p:xfrm>
        <a:graphic>
          <a:graphicData uri="http://schemas.openxmlformats.org/drawingml/2006/table">
            <a:tbl>
              <a:tblPr/>
              <a:tblGrid>
                <a:gridCol w="2953512"/>
                <a:gridCol w="2926080"/>
                <a:gridCol w="1188720"/>
                <a:gridCol w="1280160"/>
                <a:gridCol w="237744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Operational Zone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Sample Covered Pincodes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Base Fee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Per-Kg Rate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Calculated Cost (3.0 kg package)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Metro North (Delhi-NCR)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110001, 110002, 122001, 201301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₹60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₹25/kg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₹60 + (3 × 25) = ₹135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Western Commercial (Mumbai-Pune)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400001, 400002, 411001, 411004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₹70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₹30/kg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₹70 + (3 × 30) = ₹160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Southern Tech (Bengaluru)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560001, 560034, 560100, 560102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₹65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₹28/kg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₹65 + (3 × 28) = ₹149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National Default (Unassigned Hub)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All other national pincodes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₹100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₹30/kg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₹100 + (3 × 30) = ₹190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BLUEPRINT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 &amp; Production Cloud Deployment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74980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exclusively with industry-standard, lightweight, performant technologies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2560320" cy="45720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71600"/>
            <a:ext cx="256032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60020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&amp; FRAMEWORK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4400" y="18745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Core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377440"/>
            <a:ext cx="21945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Node.js v24 LTS: High concurrency event loop</a:t>
            </a:r>
            <a:endParaRPr lang="en-US" sz="10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Express.js 4.19: Modular REST &amp; SSR routing</a:t>
            </a:r>
            <a:endParaRPr lang="en-US" sz="10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express-session: Stateful cookie management</a:t>
            </a:r>
            <a:endParaRPr lang="en-US" sz="10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bcryptjs: Enterprise salted password hashing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47288" y="1371600"/>
            <a:ext cx="2560320" cy="45720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47288" y="1371600"/>
            <a:ext cx="2560320" cy="914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3630168" y="160020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&amp; ODM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630168" y="18745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Database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30168" y="2377440"/>
            <a:ext cx="21945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MongoDB Atlas: M0 Cloud Replica Set cluster</a:t>
            </a:r>
            <a:endParaRPr lang="en-US" sz="10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Mongoose 8: Strongly-typed ODM schemas</a:t>
            </a:r>
            <a:endParaRPr lang="en-US" sz="10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connect-mongo: Multi-instance session store</a:t>
            </a:r>
            <a:endParaRPr lang="en-US" sz="10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Connection Caching: Optimized for serverless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63056" y="1371600"/>
            <a:ext cx="2560320" cy="45720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63056" y="1371600"/>
            <a:ext cx="2560320" cy="914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6345936" y="160020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INTERFACE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345936" y="18745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(SSR)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45936" y="2377440"/>
            <a:ext cx="21945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EJS (Embedded JavaScript): Fast SSR views</a:t>
            </a:r>
            <a:endParaRPr lang="en-US" sz="10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express-ejs-layouts: DRY modular templating</a:t>
            </a:r>
            <a:endParaRPr lang="en-US" sz="10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Bootstrap 5.3: Responsive mobile-ready UI</a:t>
            </a:r>
            <a:endParaRPr lang="en-US" sz="10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Vanilla JavaScript: Zero-dependency client JS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878824" y="1371600"/>
            <a:ext cx="2560320" cy="45720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78824" y="1371600"/>
            <a:ext cx="2560320" cy="91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9061704" y="160020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061704" y="18745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&amp; Hosting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061704" y="2377440"/>
            <a:ext cx="21945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Vercel Serverless: Edge deployment &amp; CDN</a:t>
            </a:r>
            <a:endParaRPr lang="en-US" sz="10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GitHub Version Control: Clean commit history</a:t>
            </a:r>
            <a:endParaRPr lang="en-US" sz="10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Automated Verification Suite: 17/17 tests</a:t>
            </a:r>
            <a:endParaRPr lang="en-US" sz="10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dotenv: Complete environment secret isolation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READINESS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Feasibility, Security &amp; Architectural Scalability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74980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immediate enterprise adoption, college evaluation, and large-scale deployments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2591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25880"/>
            <a:ext cx="137160" cy="1371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463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Multi-Layer Security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737360"/>
            <a:ext cx="10241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Cryptographic Hashing: All user &amp; agent passwords salted with bcryptjs (10 rounds).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Strict Access Control: Layered middleware blocking unauthorized route elevation.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Session Hardening: HttpOnly and SameSite=Lax flags preventing XSS &amp; CSRF.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Zero-Secret Exposure: .env and credentials excluded via .gitignore and Vercel secrets.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880360"/>
            <a:ext cx="1072591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880360"/>
            <a:ext cx="137160" cy="1371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017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Cloud Scalability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3291840"/>
            <a:ext cx="10241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Serverless Auto-Scale: Vercel serverless functions scale dynamically with zero server ops.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Database Connection Pooling: Reuses active Mongoose connections across concurrent requests.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Indexed Queries: High-speed lookups on trackingId, pincodes, and agent foreign keys.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Stateless Web Tier: Persistent session store allows seamless multi-container load distribution.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4434840"/>
            <a:ext cx="1072591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434840"/>
            <a:ext cx="137160" cy="13716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45720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💼 Practical Feasibility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4846320"/>
            <a:ext cx="10241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Zero Infrastructure Overhead: Runs on generous cloud free tiers (MongoDB Atlas + Vercel).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Clean Separation of Concerns: Easy onboarding for new agents with zero training needed.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Instant Portability: Single command seed script (npm run seed) deploys complete demo data.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Tested Reliability: 17/17 automated unit and HTTP integration tests passing.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&amp;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Scope: Next-Generation Logistics Enhancements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74980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evolutionary phases transitioning from MVP to enterprise-grade AI logistics network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342900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4592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(COMPLETED)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Tracking &amp; Management MVP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05840" y="2423160"/>
            <a:ext cx="2011680" cy="274320"/>
          </a:xfrm>
          <a:prstGeom prst="roundRect">
            <a:avLst>
              <a:gd name="adj" fmla="val 26667"/>
            </a:avLst>
          </a:prstGeom>
          <a:solidFill>
            <a:srgbClr val="D1FAE5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4414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PRODUCTION READY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05840" y="2880360"/>
            <a:ext cx="28803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Full role-based authentication (Customer/Agent/Admin)</a:t>
            </a:r>
            <a:endParaRPr lang="en-US" sz="10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Automated dynamic zone delivery fee calculation</a:t>
            </a:r>
            <a:endParaRPr lang="en-US" sz="10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5-stage sequential lifecycle state machine</a:t>
            </a:r>
            <a:endParaRPr lang="en-US" sz="10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Vercel live deployment &amp; MongoDB Atlas cloud DB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61688" y="1371600"/>
            <a:ext cx="342900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36008" y="164592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(NEAR-TERM)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36008" y="19202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Communication &amp; Telemetry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36008" y="2423160"/>
            <a:ext cx="2011680" cy="274320"/>
          </a:xfrm>
          <a:prstGeom prst="roundRect">
            <a:avLst>
              <a:gd name="adj" fmla="val 26667"/>
            </a:avLst>
          </a:prstGeom>
          <a:solidFill>
            <a:srgbClr val="DBEAFE"/>
          </a:solidFill>
          <a:ln/>
        </p:spPr>
      </p:sp>
      <p:sp>
        <p:nvSpPr>
          <p:cNvPr id="16" name="Text 14"/>
          <p:cNvSpPr/>
          <p:nvPr/>
        </p:nvSpPr>
        <p:spPr>
          <a:xfrm>
            <a:off x="4636008" y="24414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IN PIPELINE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636008" y="2880360"/>
            <a:ext cx="28803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Automated WhatsApp &amp; SMS delivery alerts via Twilio</a:t>
            </a:r>
            <a:endParaRPr lang="en-US" sz="10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Customer OTP verification at dropoff for high-value goods</a:t>
            </a:r>
            <a:endParaRPr lang="en-US" sz="10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WebSockets for live agent dispatch &amp; status pushes</a:t>
            </a:r>
            <a:endParaRPr lang="en-US" sz="10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Integrated online payment gateway (Razorpay / Stripe)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991856" y="1371600"/>
            <a:ext cx="342900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66176" y="164592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(LONG-TERM)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66176" y="19202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Smart Fleet Optimization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66176" y="2423160"/>
            <a:ext cx="2011680" cy="274320"/>
          </a:xfrm>
          <a:prstGeom prst="roundRect">
            <a:avLst>
              <a:gd name="adj" fmla="val 26667"/>
            </a:avLst>
          </a:prstGeom>
          <a:solidFill>
            <a:srgbClr val="DBEAFE"/>
          </a:solidFill>
          <a:ln/>
        </p:spPr>
      </p:sp>
      <p:sp>
        <p:nvSpPr>
          <p:cNvPr id="22" name="Text 20"/>
          <p:cNvSpPr/>
          <p:nvPr/>
        </p:nvSpPr>
        <p:spPr>
          <a:xfrm>
            <a:off x="8266176" y="24414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STRATEGIC VISION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66176" y="2880360"/>
            <a:ext cx="28803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GPS Live Telemetry: Real-time map tracking with Leaflet/Google Maps</a:t>
            </a:r>
            <a:endParaRPr lang="en-US" sz="10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AI Route Optimization: Travelling Salesperson optimization for agents</a:t>
            </a:r>
            <a:endParaRPr lang="en-US" sz="10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Predictive Delivery Windows: ML ETA calculations based on traffic</a:t>
            </a:r>
            <a:endParaRPr lang="en-US" sz="10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Dedicated Flutter Mobile App with barcode/QR code scanning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SUMMARY &amp; LIVE DEMO ACCESS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Courier &amp; Parcel Delivery Tracking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production-grade, highly dependable logistics solution successfully addressing tracking opacity, agent workload balancing, and transparent delivery pricing.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5212080" cy="3657600"/>
          </a:xfrm>
          <a:prstGeom prst="roundRect">
            <a:avLst>
              <a:gd name="adj" fmla="val 3750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14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LIVE ARTIFACTS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880360"/>
            <a:ext cx="46634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Production URL: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https://courier-tracking-system-eta.vercel.app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Repository: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https://github.com/rahimuddin140/courier-tracking-system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Database: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Atlas Cloud Cluster (courierDB)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 Suite: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17/17 Tests Passing (npm test)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2286000"/>
            <a:ext cx="5212080" cy="3657600"/>
          </a:xfrm>
          <a:prstGeom prst="roundRect">
            <a:avLst>
              <a:gd name="adj" fmla="val 3750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514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EVALUATION DEMO ACCOUNTS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2880360"/>
            <a:ext cx="46634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Portal: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admin@courier.com  |  Password: admin123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Agent Portal: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rajesh@courier.com  |  Password: agent123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Portal: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customer@courier.com  |  Password: customer123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Tracking IDs for /track: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PKG-20260920-A101 (In Transit)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PKG-20260920-B202 (Delivered)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PKG-20260921-C303 (Out for Delivery)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2026-09-20T20:33:39Z</dcterms:created>
  <dcterms:modified xsi:type="dcterms:W3CDTF">2026-09-20T20:33:39Z</dcterms:modified>
</cp:coreProperties>
</file>